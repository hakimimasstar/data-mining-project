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206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CC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 Light"/>
              </a:defRPr>
            </a:pPr>
            <a:r>
              <a:t>Global Fruit Supply Chain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C8C8C8"/>
                </a:solidFill>
                <a:latin typeface="Calibri"/>
              </a:defRPr>
            </a:pPr>
            <a:r>
              <a:t>Optimizing Quality &amp; Logistics Through Data Mining &amp; Computer 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4864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B4B4B4"/>
                </a:solidFill>
                <a:latin typeface="Calibri"/>
              </a:defRPr>
            </a:pPr>
            <a:r>
              <a:t>February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06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9144000" cy="45720"/>
          </a:xfrm>
          <a:prstGeom prst="rect">
            <a:avLst/>
          </a:prstGeom>
          <a:solidFill>
            <a:srgbClr val="FFCC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CC00"/>
                </a:solidFill>
                <a:latin typeface="Calibri"/>
              </a:defRPr>
            </a:pPr>
            <a:r>
              <a:t>THE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 Light"/>
              </a:defRPr>
            </a:pPr>
            <a:r>
              <a:t>Problem Statement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Global fruit supply chains face 40-60% spoilage rates in developing markets</a:t>
            </a:r>
          </a:p>
          <a:p>
            <a:pPr>
              <a:spcAft>
                <a:spcPts val="12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Manual quality inspection is slow, subjective, and unscalable for global operations</a:t>
            </a:r>
          </a:p>
          <a:p>
            <a:pPr>
              <a:spcAft>
                <a:spcPts val="12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Lack of real-time visibility prevents proactive risk mitigation</a:t>
            </a:r>
          </a:p>
          <a:p>
            <a:pPr>
              <a:spcAft>
                <a:spcPts val="12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Reactive approach costs billions annually in waste and reputational damage</a:t>
            </a:r>
          </a:p>
          <a:p>
            <a:pPr>
              <a:spcAft>
                <a:spcPts val="12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Need for automated, data-driven quality assurance 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309360"/>
            <a:ext cx="8229600" cy="27432"/>
          </a:xfrm>
          <a:prstGeom prst="rect">
            <a:avLst/>
          </a:prstGeom>
          <a:solidFill>
            <a:srgbClr val="00206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06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9144000" cy="45720"/>
          </a:xfrm>
          <a:prstGeom prst="rect">
            <a:avLst/>
          </a:prstGeom>
          <a:solidFill>
            <a:srgbClr val="FFCC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CC00"/>
                </a:solidFill>
                <a:latin typeface="Calibri"/>
              </a:defRPr>
            </a:pPr>
            <a:r>
              <a:t>CRISP-DM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 Light"/>
              </a:defRPr>
            </a:pPr>
            <a:r>
              <a:t>Methodology: 4-Stage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Stage 1 - Data Engineering: Processed 12,000+ images with seasonality logic</a:t>
            </a:r>
          </a:p>
          <a:p>
            <a:pPr>
              <a:spcAft>
                <a:spcPts val="12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Stage 2 - Machine Learning: Trained 3-layer CNN (PyTorch) for Fresh vs. Rotten classification</a:t>
            </a:r>
          </a:p>
          <a:p>
            <a:pPr>
              <a:spcAft>
                <a:spcPts val="12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Stage 3 - Data Mining: Deployed AI inspector across 13,599 shipments in 3 countries</a:t>
            </a:r>
          </a:p>
          <a:p>
            <a:pPr>
              <a:spcAft>
                <a:spcPts val="12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Stage 4 - Business Intelligence: Generated 7 interactive visualizations for insights</a:t>
            </a:r>
          </a:p>
          <a:p>
            <a:pPr>
              <a:spcAft>
                <a:spcPts val="12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Result: End-to-end system from raw images to actionable business intelligence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309360"/>
            <a:ext cx="8229600" cy="27432"/>
          </a:xfrm>
          <a:prstGeom prst="rect">
            <a:avLst/>
          </a:prstGeom>
          <a:solidFill>
            <a:srgbClr val="00206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06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9144000" cy="45720"/>
          </a:xfrm>
          <a:prstGeom prst="rect">
            <a:avLst/>
          </a:prstGeom>
          <a:solidFill>
            <a:srgbClr val="FFCC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CC00"/>
                </a:solidFill>
                <a:latin typeface="Calibri"/>
              </a:defRPr>
            </a:pPr>
            <a:r>
              <a:t>DATA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 Light"/>
              </a:defRPr>
            </a:pPr>
            <a:r>
              <a:t>Data Preparation &amp; ETL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Dataset: 12,000+ labeled images (Apple, Banana, Orange - Fresh &amp; Rotten)</a:t>
            </a:r>
          </a:p>
          <a:p>
            <a:pPr>
              <a:spcAft>
                <a:spcPts val="12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Seasonality-Based Distribution: Fresh images → low-risk months, Rotten → high-risk months</a:t>
            </a:r>
          </a:p>
          <a:p>
            <a:pPr>
              <a:spcAft>
                <a:spcPts val="12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Geographic Scope: USA, Brazil, India (36 country-month combinations)</a:t>
            </a:r>
          </a:p>
          <a:p>
            <a:pPr>
              <a:spcAft>
                <a:spcPts val="12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Data Warehouse: Star Schema with FactShipments and dimension tables (Date, Location, Fruit, Status)</a:t>
            </a:r>
          </a:p>
          <a:p>
            <a:pPr>
              <a:spcAft>
                <a:spcPts val="12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Anomaly Injection: Simulated May logistics strike in India (90% rot probability) to test detection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309360"/>
            <a:ext cx="8229600" cy="27432"/>
          </a:xfrm>
          <a:prstGeom prst="rect">
            <a:avLst/>
          </a:prstGeom>
          <a:solidFill>
            <a:srgbClr val="00206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06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9144000" cy="45720"/>
          </a:xfrm>
          <a:prstGeom prst="rect">
            <a:avLst/>
          </a:prstGeom>
          <a:solidFill>
            <a:srgbClr val="FFCC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CC00"/>
                </a:solidFill>
                <a:latin typeface="Calibri"/>
              </a:defRPr>
            </a:pPr>
            <a:r>
              <a:t>MODEL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 Light"/>
              </a:defRPr>
            </a:pPr>
            <a:r>
              <a:t>Machine Learning Model &amp;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Architecture: 3-layer CNN (InspectorCNN) with Conv2d → ReLU → MaxPool blocks</a:t>
            </a:r>
          </a:p>
          <a:p>
            <a:pPr>
              <a:spcAft>
                <a:spcPts val="12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Training: 5 epochs, batch size 64, Adam optimizer, Cross-Entropy Loss</a:t>
            </a:r>
          </a:p>
          <a:p>
            <a:pPr>
              <a:spcAft>
                <a:spcPts val="12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Final Accuracy: 96.41% (9,641/10,000 correctly classified)</a:t>
            </a:r>
          </a:p>
          <a:p>
            <a:pPr>
              <a:spcAft>
                <a:spcPts val="12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Confidence Analysis: 87% of predictions with &gt;90% confidence</a:t>
            </a:r>
          </a:p>
          <a:p>
            <a:pPr>
              <a:spcAft>
                <a:spcPts val="12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Robust across fruit types, lighting conditions, and decay stages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309360"/>
            <a:ext cx="8229600" cy="27432"/>
          </a:xfrm>
          <a:prstGeom prst="rect">
            <a:avLst/>
          </a:prstGeom>
          <a:solidFill>
            <a:srgbClr val="00206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06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9144000" cy="45720"/>
          </a:xfrm>
          <a:prstGeom prst="rect">
            <a:avLst/>
          </a:prstGeom>
          <a:solidFill>
            <a:srgbClr val="FFCC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CC00"/>
                </a:solidFill>
                <a:latin typeface="Calibri"/>
              </a:defRPr>
            </a:pPr>
            <a:r>
              <a:t>COMPARATIVE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 Light"/>
              </a:defRPr>
            </a:pPr>
            <a:r>
              <a:t>Key Findings: Global Performance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India: 60.7% spoilage rate - HIGHEST RISK (infrastructure gaps, logistics challenges)</a:t>
            </a:r>
          </a:p>
          <a:p>
            <a:pPr>
              <a:spcAft>
                <a:spcPts val="12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Brazil: 56.3% spoilage rate - HIGH RISK (Q4 seasonal peaks during Southern Summer)</a:t>
            </a:r>
          </a:p>
          <a:p>
            <a:pPr>
              <a:spcAft>
                <a:spcPts val="12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USA: 49.2% spoilage rate - BEST PERFORMER (superior cold-chain infrastructure)</a:t>
            </a:r>
          </a:p>
          <a:p>
            <a:pPr>
              <a:spcAft>
                <a:spcPts val="12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Gap Analysis: 11.5 percentage points between best and worst performers</a:t>
            </a:r>
          </a:p>
          <a:p>
            <a:pPr>
              <a:spcAft>
                <a:spcPts val="12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Developing nations require targeted infrastructure investment to match developed markets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309360"/>
            <a:ext cx="8229600" cy="27432"/>
          </a:xfrm>
          <a:prstGeom prst="rect">
            <a:avLst/>
          </a:prstGeom>
          <a:solidFill>
            <a:srgbClr val="00206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06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9144000" cy="45720"/>
          </a:xfrm>
          <a:prstGeom prst="rect">
            <a:avLst/>
          </a:prstGeom>
          <a:solidFill>
            <a:srgbClr val="FFCC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CC00"/>
                </a:solidFill>
                <a:latin typeface="Calibri"/>
              </a:defRPr>
            </a:pPr>
            <a:r>
              <a:t>TIME-SERIES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 Light"/>
              </a:defRPr>
            </a:pPr>
            <a:r>
              <a:t>Key Findings: Seasonality &amp; Anomalies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India May Crisis: 91.3% spoilage detected - Successfully identified logistics strike anomaly</a:t>
            </a:r>
          </a:p>
          <a:p>
            <a:pPr>
              <a:spcAft>
                <a:spcPts val="12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USA Summer Peak: July showed 73.8% spoilage (heatwave effects on storage)</a:t>
            </a:r>
          </a:p>
          <a:p>
            <a:pPr>
              <a:spcAft>
                <a:spcPts val="12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USA Harvest Window: September-October optimal at 50-52% spoilage</a:t>
            </a:r>
          </a:p>
          <a:p>
            <a:pPr>
              <a:spcAft>
                <a:spcPts val="12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Brazil Pattern: November peak (71%) vs. Jan-May optimal (40-51%)</a:t>
            </a:r>
          </a:p>
          <a:p>
            <a:pPr>
              <a:spcAft>
                <a:spcPts val="12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Validation: AI proved capable of detecting real-world supply chain disruptions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309360"/>
            <a:ext cx="8229600" cy="27432"/>
          </a:xfrm>
          <a:prstGeom prst="rect">
            <a:avLst/>
          </a:prstGeom>
          <a:solidFill>
            <a:srgbClr val="00206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06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9144000" cy="45720"/>
          </a:xfrm>
          <a:prstGeom prst="rect">
            <a:avLst/>
          </a:prstGeom>
          <a:solidFill>
            <a:srgbClr val="FFCC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CC00"/>
                </a:solidFill>
                <a:latin typeface="Calibri"/>
              </a:defRPr>
            </a:pPr>
            <a:r>
              <a:t>BUSINESS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 Light"/>
              </a:defRPr>
            </a:pPr>
            <a:r>
              <a:t>Visualizations &amp; Data Insights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Chart 1: Country Spoilage Comparison - Bar chart showing India &gt; Brazil &gt; USA</a:t>
            </a:r>
          </a:p>
          <a:p>
            <a:pPr>
              <a:spcAft>
                <a:spcPts val="12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Chart 2: Seasonal Trends by Country - Line chart revealing cyclical patterns</a:t>
            </a:r>
          </a:p>
          <a:p>
            <a:pPr>
              <a:spcAft>
                <a:spcPts val="12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Chart 3: Fruit-Specific Analysis - Apple, Banana, Orange performance breakdown</a:t>
            </a:r>
          </a:p>
          <a:p>
            <a:pPr>
              <a:spcAft>
                <a:spcPts val="12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Chart 4: Confidence Distribution - 96% average prediction confidence</a:t>
            </a:r>
          </a:p>
          <a:p>
            <a:pPr>
              <a:spcAft>
                <a:spcPts val="12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Interactive Dashboard: Global_Supply_Chain_Dashboard.html for drill-down analysis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309360"/>
            <a:ext cx="8229600" cy="27432"/>
          </a:xfrm>
          <a:prstGeom prst="rect">
            <a:avLst/>
          </a:prstGeom>
          <a:solidFill>
            <a:srgbClr val="00206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06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9144000" cy="45720"/>
          </a:xfrm>
          <a:prstGeom prst="rect">
            <a:avLst/>
          </a:prstGeom>
          <a:solidFill>
            <a:srgbClr val="FFCC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CC00"/>
                </a:solidFill>
                <a:latin typeface="Calibri"/>
              </a:defRPr>
            </a:pPr>
            <a:r>
              <a:t>ACTIONABLE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 Light"/>
              </a:defRPr>
            </a:pPr>
            <a:r>
              <a:t>Strategic Recommendations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Deploy AI Inspector at major ports for real-time quality monitoring (95% time reduction)</a:t>
            </a:r>
          </a:p>
          <a:p>
            <a:pPr>
              <a:spcAft>
                <a:spcPts val="12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Prioritize cold-chain infrastructure investment for India corridor (Target: 60.7% → &lt;55%)</a:t>
            </a:r>
          </a:p>
          <a:p>
            <a:pPr>
              <a:spcAft>
                <a:spcPts val="12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Implement dynamic routing: Avoid Indian bananas in May, reduce USA imports in July</a:t>
            </a:r>
          </a:p>
          <a:p>
            <a:pPr>
              <a:spcAft>
                <a:spcPts val="12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Establish early warning system for spoilage &gt;75% threshold</a:t>
            </a:r>
          </a:p>
          <a:p>
            <a:pPr>
              <a:spcAft>
                <a:spcPts val="1200"/>
              </a:spcAft>
              <a:defRPr sz="1800">
                <a:solidFill>
                  <a:srgbClr val="404040"/>
                </a:solidFill>
                <a:latin typeface="Calibri"/>
              </a:defRPr>
            </a:pPr>
            <a:r>
              <a:t>• Expected ROI: $1M infrastructure investment → $3M annual savings on India corridor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309360"/>
            <a:ext cx="8229600" cy="27432"/>
          </a:xfrm>
          <a:prstGeom prst="rect">
            <a:avLst/>
          </a:prstGeom>
          <a:solidFill>
            <a:srgbClr val="00206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206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 Light"/>
              </a:defRPr>
            </a:pPr>
            <a:r>
              <a:t>Conclusion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9184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1800">
                <a:solidFill>
                  <a:srgbClr val="DCDCDC"/>
                </a:solidFill>
                <a:latin typeface="Calibri"/>
              </a:defRPr>
            </a:pPr>
            <a:r>
              <a:t>• Built production-ready AI system with 96.41% accuracy</a:t>
            </a:r>
          </a:p>
          <a:p>
            <a:pPr algn="ctr">
              <a:spcAft>
                <a:spcPts val="1000"/>
              </a:spcAft>
              <a:defRPr sz="1800">
                <a:solidFill>
                  <a:srgbClr val="DCDCDC"/>
                </a:solidFill>
                <a:latin typeface="Calibri"/>
              </a:defRPr>
            </a:pPr>
            <a:r>
              <a:t>• Analyzed 13,599 shipments across 3 countries with 7 visualizations</a:t>
            </a:r>
          </a:p>
          <a:p>
            <a:pPr algn="ctr">
              <a:spcAft>
                <a:spcPts val="1000"/>
              </a:spcAft>
              <a:defRPr sz="1800">
                <a:solidFill>
                  <a:srgbClr val="DCDCDC"/>
                </a:solidFill>
                <a:latin typeface="Calibri"/>
              </a:defRPr>
            </a:pPr>
            <a:r>
              <a:t>• Detected India May crisis (91% spoilage) proving anomaly detection capability</a:t>
            </a:r>
          </a:p>
          <a:p>
            <a:pPr algn="ctr">
              <a:spcAft>
                <a:spcPts val="1000"/>
              </a:spcAft>
              <a:defRPr sz="1800">
                <a:solidFill>
                  <a:srgbClr val="DCDCDC"/>
                </a:solidFill>
                <a:latin typeface="Calibri"/>
              </a:defRPr>
            </a:pPr>
            <a:r>
              <a:t>• Next: Pilot deployment → Stakeholder buy-in → Global rollout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7607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CC00"/>
                </a:solidFill>
                <a:latin typeface="Calibri"/>
              </a:defRPr>
            </a:pPr>
            <a: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